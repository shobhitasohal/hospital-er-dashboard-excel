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60" r:id="rId6"/>
    <p:sldId id="261" r:id="rId7"/>
    <p:sldId id="262" r:id="rId8"/>
    <p:sldId id="264"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1" autoAdjust="0"/>
    <p:restoredTop sz="94660"/>
  </p:normalViewPr>
  <p:slideViewPr>
    <p:cSldViewPr snapToGrid="0">
      <p:cViewPr varScale="1">
        <p:scale>
          <a:sx n="88" d="100"/>
          <a:sy n="88" d="100"/>
        </p:scale>
        <p:origin x="168"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obhita Sohal" userId="3bbd6a51ed7f7762" providerId="LiveId" clId="{786A304B-4063-4DC2-99AC-26560A815001}"/>
    <pc:docChg chg="modSld">
      <pc:chgData name="Shobhita Sohal" userId="3bbd6a51ed7f7762" providerId="LiveId" clId="{786A304B-4063-4DC2-99AC-26560A815001}" dt="2025-07-27T22:22:35.534" v="5" actId="20577"/>
      <pc:docMkLst>
        <pc:docMk/>
      </pc:docMkLst>
      <pc:sldChg chg="modSp mod">
        <pc:chgData name="Shobhita Sohal" userId="3bbd6a51ed7f7762" providerId="LiveId" clId="{786A304B-4063-4DC2-99AC-26560A815001}" dt="2025-07-27T22:22:35.534" v="5" actId="20577"/>
        <pc:sldMkLst>
          <pc:docMk/>
          <pc:sldMk cId="1715649377" sldId="263"/>
        </pc:sldMkLst>
        <pc:graphicFrameChg chg="modGraphic">
          <ac:chgData name="Shobhita Sohal" userId="3bbd6a51ed7f7762" providerId="LiveId" clId="{786A304B-4063-4DC2-99AC-26560A815001}" dt="2025-07-27T22:22:35.534" v="5" actId="20577"/>
          <ac:graphicFrameMkLst>
            <pc:docMk/>
            <pc:sldMk cId="1715649377" sldId="263"/>
            <ac:graphicFrameMk id="6" creationId="{FEBE8B2B-55CF-B36A-14C8-8A02706060ED}"/>
          </ac:graphicFrameMkLst>
        </pc:graphicFrameChg>
      </pc:sldChg>
    </pc:docChg>
  </pc:docChgLst>
  <pc:docChgLst>
    <pc:chgData name="Shobhita Sohal" userId="3bbd6a51ed7f7762" providerId="LiveId" clId="{D0DBCF91-0815-47EE-AD20-46A4CA605EE9}"/>
    <pc:docChg chg="undo custSel addSld modSld">
      <pc:chgData name="Shobhita Sohal" userId="3bbd6a51ed7f7762" providerId="LiveId" clId="{D0DBCF91-0815-47EE-AD20-46A4CA605EE9}" dt="2025-06-25T16:42:35.948" v="56" actId="1036"/>
      <pc:docMkLst>
        <pc:docMk/>
      </pc:docMkLst>
      <pc:sldChg chg="addSp delSp modSp mod">
        <pc:chgData name="Shobhita Sohal" userId="3bbd6a51ed7f7762" providerId="LiveId" clId="{D0DBCF91-0815-47EE-AD20-46A4CA605EE9}" dt="2025-06-25T16:42:35.948" v="56" actId="1036"/>
        <pc:sldMkLst>
          <pc:docMk/>
          <pc:sldMk cId="4280319527" sldId="262"/>
        </pc:sldMkLst>
      </pc:sldChg>
      <pc:sldChg chg="addSp delSp modSp add mod">
        <pc:chgData name="Shobhita Sohal" userId="3bbd6a51ed7f7762" providerId="LiveId" clId="{D0DBCF91-0815-47EE-AD20-46A4CA605EE9}" dt="2025-06-25T16:40:54.606" v="26" actId="1076"/>
        <pc:sldMkLst>
          <pc:docMk/>
          <pc:sldMk cId="4257927385" sldId="264"/>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7/27/2025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7/27/2025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7/27/2025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7/27/2025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7/27/2025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7/27/2025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7/27/2025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7/27/2025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7/27/2025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7/27/2025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7/27/2025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7/27/2025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CA" b="1" dirty="0"/>
              <a:t>Optimizing Hospital Efficiency</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dirty="0"/>
              <a:t>Emergency Room Operations Dashboard Project using excel</a:t>
            </a:r>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7F10A-F253-D07C-E9C1-5C2A166F5D74}"/>
              </a:ext>
            </a:extLst>
          </p:cNvPr>
          <p:cNvSpPr>
            <a:spLocks noGrp="1"/>
          </p:cNvSpPr>
          <p:nvPr>
            <p:ph type="title"/>
          </p:nvPr>
        </p:nvSpPr>
        <p:spPr/>
        <p:txBody>
          <a:bodyPr>
            <a:normAutofit/>
          </a:bodyPr>
          <a:lstStyle/>
          <a:p>
            <a:r>
              <a:rPr lang="en-US" b="1" dirty="0"/>
              <a:t>The Challenge: Turning Data into Action</a:t>
            </a:r>
            <a:endParaRPr lang="en-CA" dirty="0"/>
          </a:p>
        </p:txBody>
      </p:sp>
      <p:sp>
        <p:nvSpPr>
          <p:cNvPr id="3" name="Content Placeholder 2">
            <a:extLst>
              <a:ext uri="{FF2B5EF4-FFF2-40B4-BE49-F238E27FC236}">
                <a16:creationId xmlns:a16="http://schemas.microsoft.com/office/drawing/2014/main" id="{2FF57D04-6481-2FE1-9796-2EFFE2DA4081}"/>
              </a:ext>
            </a:extLst>
          </p:cNvPr>
          <p:cNvSpPr>
            <a:spLocks noGrp="1"/>
          </p:cNvSpPr>
          <p:nvPr>
            <p:ph idx="1"/>
          </p:nvPr>
        </p:nvSpPr>
        <p:spPr>
          <a:xfrm>
            <a:off x="1097281" y="2108201"/>
            <a:ext cx="3876502" cy="3726542"/>
          </a:xfrm>
        </p:spPr>
        <p:txBody>
          <a:bodyPr>
            <a:normAutofit/>
          </a:bodyPr>
          <a:lstStyle/>
          <a:p>
            <a:r>
              <a:rPr lang="en-US" dirty="0"/>
              <a:t>Hospital emergency rooms are complex environments where managing patient flow, minimizing wait times, and ensuring high satisfaction are critical. This project's objective was to build a comprehensive, interactive dashboard in Excel to transform raw operational data into clear, actionable insights for hospital management.</a:t>
            </a:r>
            <a:endParaRPr lang="en-CA" dirty="0"/>
          </a:p>
        </p:txBody>
      </p:sp>
      <p:pic>
        <p:nvPicPr>
          <p:cNvPr id="5" name="Picture 4">
            <a:extLst>
              <a:ext uri="{FF2B5EF4-FFF2-40B4-BE49-F238E27FC236}">
                <a16:creationId xmlns:a16="http://schemas.microsoft.com/office/drawing/2014/main" id="{1EAA4FDB-01A8-9C3F-A9B1-6C681ACEDAF3}"/>
              </a:ext>
            </a:extLst>
          </p:cNvPr>
          <p:cNvPicPr>
            <a:picLocks noChangeAspect="1"/>
          </p:cNvPicPr>
          <p:nvPr/>
        </p:nvPicPr>
        <p:blipFill>
          <a:blip r:embed="rId2"/>
          <a:stretch>
            <a:fillRect/>
          </a:stretch>
        </p:blipFill>
        <p:spPr>
          <a:xfrm>
            <a:off x="5282758" y="2165815"/>
            <a:ext cx="6521315" cy="3611313"/>
          </a:xfrm>
          <a:prstGeom prst="rect">
            <a:avLst/>
          </a:prstGeom>
        </p:spPr>
      </p:pic>
    </p:spTree>
    <p:extLst>
      <p:ext uri="{BB962C8B-B14F-4D97-AF65-F5344CB8AC3E}">
        <p14:creationId xmlns:p14="http://schemas.microsoft.com/office/powerpoint/2010/main" val="4237965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D60AB-4CCE-C9AD-454A-8FC107CAF1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27F68D-F5F3-FCCB-E146-C60FE20C9411}"/>
              </a:ext>
            </a:extLst>
          </p:cNvPr>
          <p:cNvSpPr>
            <a:spLocks noGrp="1"/>
          </p:cNvSpPr>
          <p:nvPr>
            <p:ph type="title"/>
          </p:nvPr>
        </p:nvSpPr>
        <p:spPr/>
        <p:txBody>
          <a:bodyPr>
            <a:normAutofit/>
          </a:bodyPr>
          <a:lstStyle/>
          <a:p>
            <a:r>
              <a:rPr lang="en-CA" b="1" dirty="0"/>
              <a:t>My Technical Journey</a:t>
            </a:r>
          </a:p>
        </p:txBody>
      </p:sp>
      <p:sp>
        <p:nvSpPr>
          <p:cNvPr id="3" name="Content Placeholder 2">
            <a:extLst>
              <a:ext uri="{FF2B5EF4-FFF2-40B4-BE49-F238E27FC236}">
                <a16:creationId xmlns:a16="http://schemas.microsoft.com/office/drawing/2014/main" id="{B4C992C8-0D4D-E082-65D5-387942E6D19E}"/>
              </a:ext>
            </a:extLst>
          </p:cNvPr>
          <p:cNvSpPr>
            <a:spLocks noGrp="1"/>
          </p:cNvSpPr>
          <p:nvPr>
            <p:ph idx="1"/>
          </p:nvPr>
        </p:nvSpPr>
        <p:spPr>
          <a:xfrm>
            <a:off x="1097281" y="2108201"/>
            <a:ext cx="10011590" cy="879928"/>
          </a:xfrm>
        </p:spPr>
        <p:txBody>
          <a:bodyPr>
            <a:normAutofit/>
          </a:bodyPr>
          <a:lstStyle/>
          <a:p>
            <a:r>
              <a:rPr lang="en-US" dirty="0"/>
              <a:t>The foundation of this dashboard is a robust data pipeline built entirely within Excel, showcasing key data engineering and analysis skills.</a:t>
            </a:r>
            <a:endParaRPr lang="en-CA" dirty="0"/>
          </a:p>
        </p:txBody>
      </p:sp>
      <p:pic>
        <p:nvPicPr>
          <p:cNvPr id="6" name="Picture 5">
            <a:extLst>
              <a:ext uri="{FF2B5EF4-FFF2-40B4-BE49-F238E27FC236}">
                <a16:creationId xmlns:a16="http://schemas.microsoft.com/office/drawing/2014/main" id="{974B524D-C999-47BA-E7FB-A5735A1011A3}"/>
              </a:ext>
            </a:extLst>
          </p:cNvPr>
          <p:cNvPicPr>
            <a:picLocks noChangeAspect="1"/>
          </p:cNvPicPr>
          <p:nvPr/>
        </p:nvPicPr>
        <p:blipFill>
          <a:blip r:embed="rId2"/>
          <a:stretch>
            <a:fillRect/>
          </a:stretch>
        </p:blipFill>
        <p:spPr>
          <a:xfrm>
            <a:off x="779318" y="3484832"/>
            <a:ext cx="10633364" cy="1823868"/>
          </a:xfrm>
          <a:prstGeom prst="rect">
            <a:avLst/>
          </a:prstGeom>
        </p:spPr>
      </p:pic>
    </p:spTree>
    <p:extLst>
      <p:ext uri="{BB962C8B-B14F-4D97-AF65-F5344CB8AC3E}">
        <p14:creationId xmlns:p14="http://schemas.microsoft.com/office/powerpoint/2010/main" val="1189312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43280-C056-FA0B-A658-AD6639E99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970D9-58D5-7E33-23B8-B22495ADEE7B}"/>
              </a:ext>
            </a:extLst>
          </p:cNvPr>
          <p:cNvSpPr>
            <a:spLocks noGrp="1"/>
          </p:cNvSpPr>
          <p:nvPr>
            <p:ph type="title"/>
          </p:nvPr>
        </p:nvSpPr>
        <p:spPr/>
        <p:txBody>
          <a:bodyPr>
            <a:normAutofit/>
          </a:bodyPr>
          <a:lstStyle/>
          <a:p>
            <a:r>
              <a:rPr lang="en-US" b="1" dirty="0"/>
              <a:t>Key Insights for Hospital Management</a:t>
            </a:r>
          </a:p>
        </p:txBody>
      </p:sp>
      <p:sp>
        <p:nvSpPr>
          <p:cNvPr id="3" name="Content Placeholder 2">
            <a:extLst>
              <a:ext uri="{FF2B5EF4-FFF2-40B4-BE49-F238E27FC236}">
                <a16:creationId xmlns:a16="http://schemas.microsoft.com/office/drawing/2014/main" id="{21B1A320-F558-D336-8D41-F217F56FF8DE}"/>
              </a:ext>
            </a:extLst>
          </p:cNvPr>
          <p:cNvSpPr>
            <a:spLocks noGrp="1"/>
          </p:cNvSpPr>
          <p:nvPr>
            <p:ph idx="1"/>
          </p:nvPr>
        </p:nvSpPr>
        <p:spPr>
          <a:xfrm>
            <a:off x="304800" y="2048568"/>
            <a:ext cx="6983896" cy="4219712"/>
          </a:xfrm>
        </p:spPr>
        <p:txBody>
          <a:bodyPr lIns="36000" tIns="0" rIns="36000" bIns="0">
            <a:normAutofit fontScale="62500" lnSpcReduction="20000"/>
          </a:bodyPr>
          <a:lstStyle/>
          <a:p>
            <a:pPr marL="457200" indent="-457200">
              <a:buFont typeface="+mj-lt"/>
              <a:buAutoNum type="alphaUcPeriod"/>
            </a:pPr>
            <a:r>
              <a:rPr lang="en-US" b="1" dirty="0"/>
              <a:t>Monthly Patient Visits Analysis - </a:t>
            </a:r>
            <a:r>
              <a:rPr lang="en-US" dirty="0"/>
              <a:t>Understanding patient visit trends throughout the year is crucial for strategic resource planning and budgeting. This chart reveals the seasonal flow of patient demand.</a:t>
            </a:r>
          </a:p>
          <a:p>
            <a:pPr marL="457200" indent="-457200">
              <a:buFont typeface="+mj-lt"/>
              <a:buAutoNum type="alphaUcPeriod"/>
            </a:pPr>
            <a:r>
              <a:rPr lang="en-US" b="1" dirty="0"/>
              <a:t>Who Are Our Patients? - </a:t>
            </a:r>
            <a:r>
              <a:rPr lang="en-US" dirty="0"/>
              <a:t>The dashboard provides a clear breakdown of patient demographics. In May, there was a slightly higher percentage of female patients, a key insight for departments that cater to gender-specific health issues.</a:t>
            </a:r>
          </a:p>
          <a:p>
            <a:pPr marL="457200" indent="-457200">
              <a:buFont typeface="+mj-lt"/>
              <a:buAutoNum type="alphaUcPeriod"/>
            </a:pPr>
            <a:r>
              <a:rPr lang="en-US" b="1" dirty="0"/>
              <a:t>Operational Efficiency - </a:t>
            </a:r>
            <a:r>
              <a:rPr lang="en-US" dirty="0"/>
              <a:t>Timeliness of service is a major factor in patient satisfaction. With 62% of services marked as delayed, this metric signals a clear opportunity for process improvement and bottleneck analysis.</a:t>
            </a:r>
          </a:p>
          <a:p>
            <a:pPr marL="457200" indent="-457200">
              <a:buFont typeface="+mj-lt"/>
              <a:buAutoNum type="alphaUcPeriod"/>
            </a:pPr>
            <a:r>
              <a:rPr lang="en-US" b="1" dirty="0"/>
              <a:t>Hourly Wait Time Analysis - </a:t>
            </a:r>
            <a:r>
              <a:rPr lang="en-US" dirty="0"/>
              <a:t>The average wait time fluctuates significantly throughout the day. Identifying peak wait times, such as the spike to 44 minutes around noon, allows for targeted interventions like deploying additional staff or re-engineering triage processes during these critical hours.</a:t>
            </a:r>
          </a:p>
          <a:p>
            <a:pPr marL="457200" indent="-457200">
              <a:buFont typeface="+mj-lt"/>
              <a:buAutoNum type="alphaUcPeriod"/>
            </a:pPr>
            <a:r>
              <a:rPr lang="en-US" b="1" dirty="0"/>
              <a:t>Referrals by Department &amp; Gender - </a:t>
            </a:r>
            <a:r>
              <a:rPr lang="en-US" dirty="0"/>
              <a:t>This view highlights which departments receive the most referrals from the ER and shows the gender distribution within those referrals. The high volume to 'General' and 'Orthopedics' suggests these areas are primary downstream pathways from the ER.</a:t>
            </a:r>
          </a:p>
          <a:p>
            <a:pPr marL="457200" indent="-457200">
              <a:buFont typeface="+mj-lt"/>
              <a:buAutoNum type="alphaUcPeriod"/>
            </a:pPr>
            <a:r>
              <a:rPr lang="en-CA" b="1" dirty="0"/>
              <a:t>Satisfaction Levels of Visiting Patients - </a:t>
            </a:r>
            <a:r>
              <a:rPr lang="en-US" dirty="0"/>
              <a:t>Patient satisfaction isn't uniform across all age groups or patients who were referred from specific departments. For example, Satisfaction scores vary dramatically based on the department a patient is referred to. The high scores for 'Renal' and 'Physio' can be studied for best practices, while the low scores for 'Cardio' and 'Gastro' indicate areas needing immediate attention and process review.</a:t>
            </a:r>
          </a:p>
        </p:txBody>
      </p:sp>
      <p:pic>
        <p:nvPicPr>
          <p:cNvPr id="8" name="Picture 7">
            <a:extLst>
              <a:ext uri="{FF2B5EF4-FFF2-40B4-BE49-F238E27FC236}">
                <a16:creationId xmlns:a16="http://schemas.microsoft.com/office/drawing/2014/main" id="{A669B95D-3172-34D8-DAF7-65DCA879DB95}"/>
              </a:ext>
            </a:extLst>
          </p:cNvPr>
          <p:cNvPicPr>
            <a:picLocks noChangeAspect="1"/>
          </p:cNvPicPr>
          <p:nvPr/>
        </p:nvPicPr>
        <p:blipFill>
          <a:blip r:embed="rId2"/>
          <a:stretch>
            <a:fillRect/>
          </a:stretch>
        </p:blipFill>
        <p:spPr>
          <a:xfrm>
            <a:off x="7409780" y="4268779"/>
            <a:ext cx="4411159" cy="1743479"/>
          </a:xfrm>
          <a:prstGeom prst="rect">
            <a:avLst/>
          </a:prstGeom>
        </p:spPr>
      </p:pic>
      <p:pic>
        <p:nvPicPr>
          <p:cNvPr id="10" name="Picture 9">
            <a:extLst>
              <a:ext uri="{FF2B5EF4-FFF2-40B4-BE49-F238E27FC236}">
                <a16:creationId xmlns:a16="http://schemas.microsoft.com/office/drawing/2014/main" id="{45705E2C-1FF9-31FB-19E8-350CC2AFC924}"/>
              </a:ext>
            </a:extLst>
          </p:cNvPr>
          <p:cNvPicPr>
            <a:picLocks noChangeAspect="1"/>
          </p:cNvPicPr>
          <p:nvPr/>
        </p:nvPicPr>
        <p:blipFill>
          <a:blip r:embed="rId3"/>
          <a:stretch>
            <a:fillRect/>
          </a:stretch>
        </p:blipFill>
        <p:spPr>
          <a:xfrm>
            <a:off x="7409780" y="2160082"/>
            <a:ext cx="4501450" cy="1450758"/>
          </a:xfrm>
          <a:prstGeom prst="rect">
            <a:avLst/>
          </a:prstGeom>
        </p:spPr>
      </p:pic>
    </p:spTree>
    <p:extLst>
      <p:ext uri="{BB962C8B-B14F-4D97-AF65-F5344CB8AC3E}">
        <p14:creationId xmlns:p14="http://schemas.microsoft.com/office/powerpoint/2010/main" val="4280319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EEB39-AE35-7EE0-3100-33366F60D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5841D-7BB9-E005-0447-14D2597130D0}"/>
              </a:ext>
            </a:extLst>
          </p:cNvPr>
          <p:cNvSpPr>
            <a:spLocks noGrp="1"/>
          </p:cNvSpPr>
          <p:nvPr>
            <p:ph type="title"/>
          </p:nvPr>
        </p:nvSpPr>
        <p:spPr/>
        <p:txBody>
          <a:bodyPr>
            <a:normAutofit/>
          </a:bodyPr>
          <a:lstStyle/>
          <a:p>
            <a:r>
              <a:rPr lang="en-US" b="1" dirty="0"/>
              <a:t>Key Insights for Hospital Management</a:t>
            </a:r>
          </a:p>
        </p:txBody>
      </p:sp>
      <p:pic>
        <p:nvPicPr>
          <p:cNvPr id="5" name="Picture 4">
            <a:extLst>
              <a:ext uri="{FF2B5EF4-FFF2-40B4-BE49-F238E27FC236}">
                <a16:creationId xmlns:a16="http://schemas.microsoft.com/office/drawing/2014/main" id="{3EA491BD-AA37-A103-1E3C-FEDE0557F3A1}"/>
              </a:ext>
            </a:extLst>
          </p:cNvPr>
          <p:cNvPicPr>
            <a:picLocks noChangeAspect="1"/>
          </p:cNvPicPr>
          <p:nvPr/>
        </p:nvPicPr>
        <p:blipFill>
          <a:blip r:embed="rId2"/>
          <a:stretch>
            <a:fillRect/>
          </a:stretch>
        </p:blipFill>
        <p:spPr>
          <a:xfrm>
            <a:off x="1552370" y="2067242"/>
            <a:ext cx="9499943" cy="4146050"/>
          </a:xfrm>
          <a:prstGeom prst="rect">
            <a:avLst/>
          </a:prstGeom>
        </p:spPr>
      </p:pic>
    </p:spTree>
    <p:extLst>
      <p:ext uri="{BB962C8B-B14F-4D97-AF65-F5344CB8AC3E}">
        <p14:creationId xmlns:p14="http://schemas.microsoft.com/office/powerpoint/2010/main" val="4257927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51479-AF32-4252-5475-5A280AAD72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F4549E-CE79-6323-E8BC-FC3A2CD163B5}"/>
              </a:ext>
            </a:extLst>
          </p:cNvPr>
          <p:cNvSpPr>
            <a:spLocks noGrp="1"/>
          </p:cNvSpPr>
          <p:nvPr>
            <p:ph type="title"/>
          </p:nvPr>
        </p:nvSpPr>
        <p:spPr/>
        <p:txBody>
          <a:bodyPr>
            <a:normAutofit/>
          </a:bodyPr>
          <a:lstStyle/>
          <a:p>
            <a:r>
              <a:rPr lang="en-CA" b="1" dirty="0"/>
              <a:t>Impact &amp; Actionable Recommendations</a:t>
            </a:r>
          </a:p>
        </p:txBody>
      </p:sp>
      <p:graphicFrame>
        <p:nvGraphicFramePr>
          <p:cNvPr id="6" name="Content Placeholder 5">
            <a:extLst>
              <a:ext uri="{FF2B5EF4-FFF2-40B4-BE49-F238E27FC236}">
                <a16:creationId xmlns:a16="http://schemas.microsoft.com/office/drawing/2014/main" id="{FEBE8B2B-55CF-B36A-14C8-8A02706060ED}"/>
              </a:ext>
            </a:extLst>
          </p:cNvPr>
          <p:cNvGraphicFramePr>
            <a:graphicFrameLocks noGrp="1"/>
          </p:cNvGraphicFramePr>
          <p:nvPr>
            <p:ph idx="1"/>
            <p:extLst>
              <p:ext uri="{D42A27DB-BD31-4B8C-83A1-F6EECF244321}">
                <p14:modId xmlns:p14="http://schemas.microsoft.com/office/powerpoint/2010/main" val="1748254121"/>
              </p:ext>
            </p:extLst>
          </p:nvPr>
        </p:nvGraphicFramePr>
        <p:xfrm>
          <a:off x="1096963" y="2108198"/>
          <a:ext cx="10058400" cy="3657603"/>
        </p:xfrm>
        <a:graphic>
          <a:graphicData uri="http://schemas.openxmlformats.org/drawingml/2006/table">
            <a:tbl>
              <a:tblPr>
                <a:tableStyleId>{5C22544A-7EE6-4342-B048-85BDC9FD1C3A}</a:tableStyleId>
              </a:tblPr>
              <a:tblGrid>
                <a:gridCol w="5029200">
                  <a:extLst>
                    <a:ext uri="{9D8B030D-6E8A-4147-A177-3AD203B41FA5}">
                      <a16:colId xmlns:a16="http://schemas.microsoft.com/office/drawing/2014/main" val="1854246337"/>
                    </a:ext>
                  </a:extLst>
                </a:gridCol>
                <a:gridCol w="5029200">
                  <a:extLst>
                    <a:ext uri="{9D8B030D-6E8A-4147-A177-3AD203B41FA5}">
                      <a16:colId xmlns:a16="http://schemas.microsoft.com/office/drawing/2014/main" val="558404096"/>
                    </a:ext>
                  </a:extLst>
                </a:gridCol>
              </a:tblGrid>
              <a:tr h="1620159">
                <a:tc>
                  <a:txBody>
                    <a:bodyPr/>
                    <a:lstStyle/>
                    <a:p>
                      <a:r>
                        <a:rPr lang="en-US" sz="1800" b="1" i="0" kern="1200" dirty="0">
                          <a:solidFill>
                            <a:schemeClr val="dk1"/>
                          </a:solidFill>
                          <a:effectLst/>
                          <a:latin typeface="+mn-lt"/>
                          <a:ea typeface="+mn-ea"/>
                          <a:cs typeface="+mn-cs"/>
                        </a:rPr>
                        <a:t>Optimize Staffing:</a:t>
                      </a:r>
                      <a:r>
                        <a:rPr lang="en-US" sz="1800" b="0" i="0" kern="1200" dirty="0">
                          <a:solidFill>
                            <a:schemeClr val="dk1"/>
                          </a:solidFill>
                          <a:effectLst/>
                          <a:latin typeface="+mn-lt"/>
                          <a:ea typeface="+mn-ea"/>
                          <a:cs typeface="+mn-cs"/>
                        </a:rPr>
                        <a:t> </a:t>
                      </a:r>
                    </a:p>
                    <a:p>
                      <a:r>
                        <a:rPr lang="en-US" sz="1800" b="0" i="0" kern="1200" dirty="0">
                          <a:solidFill>
                            <a:schemeClr val="dk1"/>
                          </a:solidFill>
                          <a:effectLst/>
                          <a:latin typeface="+mn-lt"/>
                          <a:ea typeface="+mn-ea"/>
                          <a:cs typeface="+mn-cs"/>
                        </a:rPr>
                        <a:t>Use the hourly and daily patient flow data to create dynamic staffing schedules that align personnel with peak demand, especially around noon and on high-traffic days.</a:t>
                      </a:r>
                      <a:endParaRPr lang="en-CA" dirty="0"/>
                    </a:p>
                  </a:txBody>
                  <a:tcPr anchor="ctr"/>
                </a:tc>
                <a:tc>
                  <a:txBody>
                    <a:bodyPr/>
                    <a:lstStyle/>
                    <a:p>
                      <a:r>
                        <a:rPr lang="en-US" sz="1800" b="1" i="0" kern="1200" dirty="0">
                          <a:solidFill>
                            <a:schemeClr val="dk1"/>
                          </a:solidFill>
                          <a:effectLst/>
                          <a:latin typeface="+mn-lt"/>
                          <a:ea typeface="+mn-ea"/>
                          <a:cs typeface="+mn-cs"/>
                        </a:rPr>
                        <a:t>Improve Patient Experience:</a:t>
                      </a:r>
                      <a:r>
                        <a:rPr lang="en-US" sz="1800" b="0" i="0" kern="1200" dirty="0">
                          <a:solidFill>
                            <a:schemeClr val="dk1"/>
                          </a:solidFill>
                          <a:effectLst/>
                          <a:latin typeface="+mn-lt"/>
                          <a:ea typeface="+mn-ea"/>
                          <a:cs typeface="+mn-cs"/>
                        </a:rPr>
                        <a:t> </a:t>
                      </a:r>
                    </a:p>
                    <a:p>
                      <a:r>
                        <a:rPr lang="en-US" sz="1800" b="0" i="0" kern="1200" dirty="0">
                          <a:solidFill>
                            <a:schemeClr val="dk1"/>
                          </a:solidFill>
                          <a:effectLst/>
                          <a:latin typeface="+mn-lt"/>
                          <a:ea typeface="+mn-ea"/>
                          <a:cs typeface="+mn-cs"/>
                        </a:rPr>
                        <a:t>Investigate the low satisfaction scores in the 'Cardio' and 'Gastro' referral pathways, as well as for patients in the 40-49 and 70+ age brackets, to identify and address root causes.</a:t>
                      </a:r>
                      <a:endParaRPr lang="en-CA" dirty="0"/>
                    </a:p>
                  </a:txBody>
                  <a:tcPr anchor="ctr"/>
                </a:tc>
                <a:extLst>
                  <a:ext uri="{0D108BD9-81ED-4DB2-BD59-A6C34878D82A}">
                    <a16:rowId xmlns:a16="http://schemas.microsoft.com/office/drawing/2014/main" val="1591010388"/>
                  </a:ext>
                </a:extLst>
              </a:tr>
              <a:tr h="2037444">
                <a:tc>
                  <a:txBody>
                    <a:bodyPr/>
                    <a:lstStyle/>
                    <a:p>
                      <a:r>
                        <a:rPr lang="en-US" sz="1800" b="1" i="0" kern="1200" dirty="0">
                          <a:solidFill>
                            <a:schemeClr val="dk1"/>
                          </a:solidFill>
                          <a:effectLst/>
                          <a:latin typeface="+mn-lt"/>
                          <a:ea typeface="+mn-ea"/>
                          <a:cs typeface="+mn-cs"/>
                        </a:rPr>
                        <a:t>Streamline High-Volume Pathways: </a:t>
                      </a:r>
                    </a:p>
                    <a:p>
                      <a:r>
                        <a:rPr lang="en-US" sz="1800" b="0" i="0" kern="1200" dirty="0">
                          <a:solidFill>
                            <a:schemeClr val="dk1"/>
                          </a:solidFill>
                          <a:effectLst/>
                          <a:latin typeface="+mn-lt"/>
                          <a:ea typeface="+mn-ea"/>
                          <a:cs typeface="+mn-cs"/>
                        </a:rPr>
                        <a:t>Focus process improvement efforts on the 'General' and 'Orthopedics' referral departments, as they handle the largest volume of patients from the ER.</a:t>
                      </a:r>
                      <a:endParaRPr lang="en-CA" dirty="0"/>
                    </a:p>
                  </a:txBody>
                  <a:tcPr anchor="ctr"/>
                </a:tc>
                <a:tc>
                  <a:txBody>
                    <a:bodyPr/>
                    <a:lstStyle/>
                    <a:p>
                      <a:r>
                        <a:rPr lang="en-US" sz="1800" b="1" i="0" kern="1200" dirty="0">
                          <a:solidFill>
                            <a:schemeClr val="dk1"/>
                          </a:solidFill>
                          <a:effectLst/>
                          <a:latin typeface="+mn-lt"/>
                          <a:ea typeface="+mn-ea"/>
                          <a:cs typeface="+mn-cs"/>
                        </a:rPr>
                        <a:t>Address Service Delays:</a:t>
                      </a:r>
                      <a:r>
                        <a:rPr lang="en-US" sz="1800" b="0" i="0" kern="1200" dirty="0">
                          <a:solidFill>
                            <a:schemeClr val="dk1"/>
                          </a:solidFill>
                          <a:effectLst/>
                          <a:latin typeface="+mn-lt"/>
                          <a:ea typeface="+mn-ea"/>
                          <a:cs typeface="+mn-cs"/>
                        </a:rPr>
                        <a:t> </a:t>
                      </a:r>
                    </a:p>
                    <a:p>
                      <a:r>
                        <a:rPr lang="en-US" sz="1800" b="0" i="0" kern="1200" dirty="0">
                          <a:solidFill>
                            <a:schemeClr val="dk1"/>
                          </a:solidFill>
                          <a:effectLst/>
                          <a:latin typeface="+mn-lt"/>
                          <a:ea typeface="+mn-ea"/>
                          <a:cs typeface="+mn-cs"/>
                        </a:rPr>
                        <a:t>With 62% of services experiencing delays, a hospital-wide initiative to identify and eliminate operational bottlenecks is highly recommended to improve both efficiency and patient satisfaction.</a:t>
                      </a:r>
                      <a:endParaRPr lang="en-CA" dirty="0"/>
                    </a:p>
                  </a:txBody>
                  <a:tcPr anchor="ctr"/>
                </a:tc>
                <a:extLst>
                  <a:ext uri="{0D108BD9-81ED-4DB2-BD59-A6C34878D82A}">
                    <a16:rowId xmlns:a16="http://schemas.microsoft.com/office/drawing/2014/main" val="4111134434"/>
                  </a:ext>
                </a:extLst>
              </a:tr>
            </a:tbl>
          </a:graphicData>
        </a:graphic>
      </p:graphicFrame>
    </p:spTree>
    <p:extLst>
      <p:ext uri="{BB962C8B-B14F-4D97-AF65-F5344CB8AC3E}">
        <p14:creationId xmlns:p14="http://schemas.microsoft.com/office/powerpoint/2010/main" val="1715649377"/>
      </p:ext>
    </p:extLst>
  </p:cSld>
  <p:clrMapOvr>
    <a:masterClrMapping/>
  </p:clrMapOvr>
</p:sld>
</file>

<file path=ppt/theme/theme1.xml><?xml version="1.0" encoding="utf-8"?>
<a:theme xmlns:a="http://schemas.openxmlformats.org/drawingml/2006/main" name="Custom">
  <a:themeElements>
    <a:clrScheme name="Custom 3">
      <a:dk1>
        <a:sysClr val="windowText" lastClr="000000"/>
      </a:dk1>
      <a:lt1>
        <a:sysClr val="window" lastClr="FFFFFF"/>
      </a:lt1>
      <a:dk2>
        <a:srgbClr val="44546A"/>
      </a:dk2>
      <a:lt2>
        <a:srgbClr val="E7E6E6"/>
      </a:lt2>
      <a:accent1>
        <a:srgbClr val="0E355A"/>
      </a:accent1>
      <a:accent2>
        <a:srgbClr val="AEBECC"/>
      </a:accent2>
      <a:accent3>
        <a:srgbClr val="58748D"/>
      </a:accent3>
      <a:accent4>
        <a:srgbClr val="FBFCFC"/>
      </a:accent4>
      <a:accent5>
        <a:srgbClr val="1E4E79"/>
      </a:accent5>
      <a:accent6>
        <a:srgbClr val="161C28"/>
      </a:accent6>
      <a:hlink>
        <a:srgbClr val="000000"/>
      </a:hlink>
      <a:folHlink>
        <a:srgbClr val="000000"/>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{3AFF51C2-86A8-4DB6-96E2-9A721E4D8E32}TFf0a5ceae-4542-492d-822e-d65a94fb0e1e2a8bfc10_win32-70e309b38cd8</Template>
  <TotalTime>25</TotalTime>
  <Words>516</Words>
  <Application>Microsoft Office PowerPoint</Application>
  <PresentationFormat>Widescreen</PresentationFormat>
  <Paragraphs>23</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Bookman Old Style</vt:lpstr>
      <vt:lpstr>Calibri</vt:lpstr>
      <vt:lpstr>Franklin Gothic Book</vt:lpstr>
      <vt:lpstr>Custom</vt:lpstr>
      <vt:lpstr>Optimizing Hospital Efficiency</vt:lpstr>
      <vt:lpstr>The Challenge: Turning Data into Action</vt:lpstr>
      <vt:lpstr>My Technical Journey</vt:lpstr>
      <vt:lpstr>Key Insights for Hospital Management</vt:lpstr>
      <vt:lpstr>Key Insights for Hospital Management</vt:lpstr>
      <vt:lpstr>Impact &amp; Actionable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Shobhita Sohal</dc:creator>
  <cp:lastModifiedBy>Shobhita Sohal</cp:lastModifiedBy>
  <cp:revision>1</cp:revision>
  <dcterms:created xsi:type="dcterms:W3CDTF">2025-06-25T16:17:40Z</dcterms:created>
  <dcterms:modified xsi:type="dcterms:W3CDTF">2025-07-27T22:22:53Z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